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343B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2343B"/>
                </a:solidFill>
                <a:latin typeface="Calibri"/>
              </a:rPr>
              <a:t>Exercise classification — macro F1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macro F1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234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7C6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Logistic reg.</c:v>
                  </c:pt>
                  <c:pt idx="1">
                    <c:v>BiLSTM</c:v>
                  </c:pt>
                  <c:pt idx="2">
                    <c:v>GRU</c:v>
                  </c:pt>
                  <c:pt idx="3">
                    <c:v>BiLSTM + aug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0.9915</c:v>
                </c:pt>
                <c:pt idx="1">
                  <c:v>0.9883</c:v>
                </c:pt>
                <c:pt idx="2">
                  <c:v>0.9993</c:v>
                </c:pt>
                <c:pt idx="3">
                  <c:v>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1234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A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2"/>
          <c:min val="0.9"/>
        </c:scaling>
        <c:delete val="0"/>
        <c:axPos val="l"/>
        <c:majorGridlines>
          <c:spPr>
            <a:ln w="12700" cap="flat">
              <a:solidFill>
                <a:srgbClr val="E6EEEF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A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bracketed placeholders before presenting. Opening line: FitAI watches you exercise through a webcam, counts your reps, comments on your form, and adapts next week's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else matches the zeroth review proposal. The deviation is honest and has a stated remedy.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along each row. Stress that only landmark numbers cross the network, never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of the twelve steps remain, and all three need data we record ourselves.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terminal here and run the short pipeline command, then show the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observation out loud before a reviewer raises it. It is a stronger position than claiming the BiLSTM was essential.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Challenge 1 is the strongest item here: it shows verification of our own results rather than accepting a good-looking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committing to the dataset recording in week 1 — it unblocks the form classifier, which is the main outstanding deep-learning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3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FitAI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Adaptive Deep-Learning-Based Fitness Assistant for</a:t>
            </a:r>
            <a:endParaRPr lang="en-US" sz="2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 Workouts and Real-Time Exercise Analysis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385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Review  ·  Implementation Progress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871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F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F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evaluated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24871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310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3017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F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sets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F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24871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3017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F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F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8587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069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 — Reg. No.]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Member — Reg. No.]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38587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4069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[Guide Name]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[Department]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38587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4069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[Review Date]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[Course / Semester]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— Problem &amp; Proposed System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Zeroth Review, with one deviation noted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AEB"/>
            </a:solidFill>
            <a:prstDash val="solid"/>
          </a:ln>
          <a:effectLst>
            <a:outerShdw sx="100000" sy="100000" kx="0" ky="0" algn="bl" rotWithShape="0" blurRad="101600" dist="12700" dir="5400000">
              <a:srgbClr val="0A2A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335024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335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60704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664208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exercisers get no feedback on technique; bad form causes injury.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plans ignore what the user actually completed last week.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AEB"/>
            </a:solidFill>
            <a:prstDash val="solid"/>
          </a:ln>
          <a:effectLst>
            <a:outerShdw sx="100000" sy="100000" kx="0" ky="0" algn="bl" rotWithShape="0" blurRad="101600" dist="12700" dir="5400000">
              <a:srgbClr val="0A2A3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2816352"/>
            <a:ext cx="310896" cy="31089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2816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60704" y="2807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3145536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the exercise, count repetitions, flag form errors live.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the next workout from measured performance — explainably.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09160" y="1170432"/>
            <a:ext cx="3977640" cy="2852928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1EAEB"/>
            </a:solidFill>
            <a:prstDash val="solid"/>
          </a:ln>
          <a:effectLst>
            <a:outerShdw sx="100000" sy="100000" kx="0" ky="0" algn="bl" rotWithShape="0" blurRad="101600" dist="12700" dir="5400000">
              <a:srgbClr val="0A2A30">
                <a:alpha val="16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937760" y="1325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937760" y="1682496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37760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321808" y="16550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goals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321808" y="18379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front end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2139696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37760" y="2139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21122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plan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321808" y="22951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workout generator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0" y="2596896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37760" y="2596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321808" y="25694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session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321808" y="27523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pose in the browser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37760" y="3054096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937760" y="3054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321808" y="30266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321808" y="32095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+ angle state machine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37760" y="3511296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937760" y="3511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321808" y="34838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coach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321808" y="36667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score-based plan update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16052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6E8"/>
          </a:solidFill>
          <a:ln w="12700">
            <a:solidFill>
              <a:srgbClr val="E1EAEB"/>
            </a:solidFill>
            <a:prstDash val="solid"/>
          </a:ln>
          <a:effectLst>
            <a:outerShdw sx="100000" sy="100000" kx="0" ky="0" algn="bl" rotWithShape="0" blurRad="101600" dist="12700" dir="5400000">
              <a:srgbClr val="0A2A30">
                <a:alpha val="16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658368" y="427939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C77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since Zeroth Review: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form-error classification is still rule-based — no public dataset labels incorrect form, so the deep model awaits our own recorded error data.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Overview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tested vs. remaining, across the full proposed pipeline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BROWSER  (no video leaves the device)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426464"/>
            <a:ext cx="1737360" cy="621792"/>
          </a:xfrm>
          <a:prstGeom prst="roundRect">
            <a:avLst>
              <a:gd name="adj" fmla="val 14706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12700" dir="5400000">
              <a:srgbClr val="0A2A30">
                <a:alpha val="1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30352" y="1536192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1773936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user's camera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240280" y="16459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1426464"/>
            <a:ext cx="2103120" cy="621792"/>
          </a:xfrm>
          <a:prstGeom prst="roundRect">
            <a:avLst>
              <a:gd name="adj" fmla="val 14706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12700" dir="5400000">
              <a:srgbClr val="0A2A30">
                <a:alpha val="16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633472" y="1536192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pose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633472" y="1773936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landmarks / frame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16459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0" y="1426464"/>
            <a:ext cx="1828800" cy="621792"/>
          </a:xfrm>
          <a:prstGeom prst="roundRect">
            <a:avLst>
              <a:gd name="adj" fmla="val 14706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12700" dir="5400000">
              <a:srgbClr val="0A2A30">
                <a:alpha val="16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102352" y="1536192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102352" y="1773936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landmarks only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040880" y="1426464"/>
            <a:ext cx="1645920" cy="621792"/>
          </a:xfrm>
          <a:prstGeom prst="roundRect">
            <a:avLst>
              <a:gd name="adj" fmla="val 14706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12700" dir="5400000">
              <a:srgbClr val="0A2A30">
                <a:alpha val="1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114032" y="1536192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controls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114032" y="1773936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· zoom · framing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2128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SERVER  ·  analysis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450592"/>
            <a:ext cx="2011680" cy="621792"/>
          </a:xfrm>
          <a:prstGeom prst="roundRect">
            <a:avLst>
              <a:gd name="adj" fmla="val 1470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12700" dir="5400000">
              <a:srgbClr val="0A2A30">
                <a:alpha val="16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530352" y="2560320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30352" y="2798064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hip-centre · body scale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2514600" y="26700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834640" y="2450592"/>
            <a:ext cx="1828800" cy="621792"/>
          </a:xfrm>
          <a:prstGeom prst="roundRect">
            <a:avLst>
              <a:gd name="adj" fmla="val 1470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12700" dir="5400000">
              <a:srgbClr val="0A2A30">
                <a:alpha val="16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2907792" y="2560320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counter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2907792" y="2798064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angles + state machine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709160" y="26700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0" y="2450592"/>
            <a:ext cx="1737360" cy="621792"/>
          </a:xfrm>
          <a:prstGeom prst="roundRect">
            <a:avLst>
              <a:gd name="adj" fmla="val 1470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12700" dir="5400000">
              <a:srgbClr val="0A2A30">
                <a:alpha val="16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5102352" y="256032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rules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5102352" y="2798064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checks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6812280" y="26700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132320" y="2450592"/>
            <a:ext cx="1554480" cy="621792"/>
          </a:xfrm>
          <a:prstGeom prst="roundRect">
            <a:avLst>
              <a:gd name="adj" fmla="val 14706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12700" dir="5400000">
              <a:srgbClr val="0A2A30">
                <a:alpha val="16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7205472" y="2560320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7205472" y="2798064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label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323697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SERVER  ·  product services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3474720"/>
            <a:ext cx="1600200" cy="621792"/>
          </a:xfrm>
          <a:prstGeom prst="roundRect">
            <a:avLst>
              <a:gd name="adj" fmla="val 14706"/>
            </a:avLst>
          </a:prstGeom>
          <a:solidFill>
            <a:srgbClr val="0A4450"/>
          </a:solidFill>
          <a:ln w="12700">
            <a:solidFill>
              <a:srgbClr val="0A4450"/>
            </a:solidFill>
            <a:prstDash val="solid"/>
          </a:ln>
          <a:effectLst>
            <a:outerShdw sx="100000" sy="100000" kx="0" ky="0" algn="bl" rotWithShape="0" blurRad="101600" dist="12700" dir="5400000">
              <a:srgbClr val="0A2A30">
                <a:alpha val="16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530352" y="3584448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profile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530352" y="3822192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· validation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148840" y="3474720"/>
            <a:ext cx="1600200" cy="621792"/>
          </a:xfrm>
          <a:prstGeom prst="roundRect">
            <a:avLst>
              <a:gd name="adj" fmla="val 14706"/>
            </a:avLst>
          </a:prstGeom>
          <a:solidFill>
            <a:srgbClr val="0A4450"/>
          </a:solidFill>
          <a:ln w="12700">
            <a:solidFill>
              <a:srgbClr val="0A4450"/>
            </a:solidFill>
            <a:prstDash val="solid"/>
          </a:ln>
          <a:effectLst>
            <a:outerShdw sx="100000" sy="100000" kx="0" ky="0" algn="bl" rotWithShape="0" blurRad="101600" dist="12700" dir="5400000">
              <a:srgbClr val="0A2A30">
                <a:alpha val="16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2221992" y="3584448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generator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2221992" y="3822192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840480" y="3474720"/>
            <a:ext cx="1600200" cy="621792"/>
          </a:xfrm>
          <a:prstGeom prst="roundRect">
            <a:avLst>
              <a:gd name="adj" fmla="val 14706"/>
            </a:avLst>
          </a:prstGeom>
          <a:solidFill>
            <a:srgbClr val="0A4450"/>
          </a:solidFill>
          <a:ln w="12700">
            <a:solidFill>
              <a:srgbClr val="0A4450"/>
            </a:solidFill>
            <a:prstDash val="solid"/>
          </a:ln>
          <a:effectLst>
            <a:outerShdw sx="100000" sy="100000" kx="0" ky="0" algn="bl" rotWithShape="0" blurRad="101600" dist="12700" dir="5400000">
              <a:srgbClr val="0A2A30">
                <a:alpha val="16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3913632" y="3584448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coach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3913632" y="3822192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rules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532120" y="3474720"/>
            <a:ext cx="1508760" cy="621792"/>
          </a:xfrm>
          <a:prstGeom prst="roundRect">
            <a:avLst>
              <a:gd name="adj" fmla="val 14706"/>
            </a:avLst>
          </a:prstGeom>
          <a:solidFill>
            <a:srgbClr val="0A4450"/>
          </a:solidFill>
          <a:ln w="12700">
            <a:solidFill>
              <a:srgbClr val="0A4450"/>
            </a:solidFill>
            <a:prstDash val="solid"/>
          </a:ln>
          <a:effectLst>
            <a:outerShdw sx="100000" sy="100000" kx="0" ky="0" algn="bl" rotWithShape="0" blurRad="101600" dist="12700" dir="5400000">
              <a:srgbClr val="0A2A30">
                <a:alpha val="16000"/>
              </a:srgbClr>
            </a:outerShdw>
          </a:effectLst>
        </p:spPr>
      </p:sp>
      <p:sp>
        <p:nvSpPr>
          <p:cNvPr id="46" name="Text 44"/>
          <p:cNvSpPr txBox="1"/>
          <p:nvPr/>
        </p:nvSpPr>
        <p:spPr>
          <a:xfrm>
            <a:off x="5605272" y="3584448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5605272" y="3822192"/>
            <a:ext cx="1362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· history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132320" y="3474720"/>
            <a:ext cx="1554480" cy="621792"/>
          </a:xfrm>
          <a:prstGeom prst="roundRect">
            <a:avLst>
              <a:gd name="adj" fmla="val 14706"/>
            </a:avLst>
          </a:prstGeom>
          <a:solidFill>
            <a:srgbClr val="0A4450"/>
          </a:solidFill>
          <a:ln w="12700">
            <a:solidFill>
              <a:srgbClr val="0A4450"/>
            </a:solidFill>
            <a:prstDash val="solid"/>
          </a:ln>
          <a:effectLst>
            <a:outerShdw sx="100000" sy="100000" kx="0" ky="0" algn="bl" rotWithShape="0" blurRad="101600" dist="12700" dir="5400000">
              <a:srgbClr val="0A2A30">
                <a:alpha val="16000"/>
              </a:srgbClr>
            </a:outerShdw>
          </a:effectLst>
        </p:spPr>
      </p:sp>
      <p:sp>
        <p:nvSpPr>
          <p:cNvPr id="49" name="Text 47"/>
          <p:cNvSpPr txBox="1"/>
          <p:nvPr/>
        </p:nvSpPr>
        <p:spPr>
          <a:xfrm>
            <a:off x="7205472" y="3584448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</a:t>
            </a:r>
            <a:endParaRPr lang="en-US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7205472" y="3822192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USDA food table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7200" y="4279392"/>
            <a:ext cx="146304" cy="1463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58368" y="42428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&amp; tested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423160" y="4279392"/>
            <a:ext cx="146304" cy="1463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2624328" y="42428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Trained, needs own data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389120" y="4279392"/>
            <a:ext cx="146304" cy="146304"/>
          </a:xfrm>
          <a:prstGeom prst="ellipse">
            <a:avLst/>
          </a:prstGeom>
          <a:solidFill>
            <a:srgbClr val="9AAFB4"/>
          </a:solidFill>
          <a:ln w="12700">
            <a:solidFill>
              <a:srgbClr val="9AAFB4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590288" y="42428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6035040" y="424281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Pending: form classifier · own recorded dataset · deployment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Run &amp; Steps Completed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models trained end-to-end on the same data and split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25780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1EAEB"/>
            </a:solidFill>
            <a:prstDash val="solid"/>
          </a:ln>
          <a:effectLst>
            <a:outerShdw sx="100000" sy="100000" kx="0" ky="0" algn="bl" rotWithShape="0" blurRad="101600" dist="12700" dir="5400000">
              <a:srgbClr val="0A2A30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8368" y="131673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architectures — configuration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645920"/>
          <a:ext cx="484632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697480"/>
                <a:gridCol w="731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mean/std/min/max per window → 396 features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BiLSTM (primary)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→ 32 units, dropout 0.3, Adam 1e-3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 (comparison)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→ 32 units, dropout 0.3, Adam 1e-3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BiLSTM + augment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 0.5, rec. dropout 0.25, L2 1e-4, ×3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58368" y="36118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input: 60-frame windows × 99 features (33 landmarks × x, y, visibility)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943600" y="1188720"/>
            <a:ext cx="2743200" cy="27889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1EAEB"/>
            </a:solidFill>
            <a:prstDash val="solid"/>
          </a:ln>
          <a:effectLst>
            <a:outerShdw sx="100000" sy="100000" kx="0" ky="0" algn="bl" rotWithShape="0" blurRad="101600" dist="12700" dir="5400000">
              <a:srgbClr val="0A2A30">
                <a:alpha val="16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144768" y="13167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pipeline — steps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144768" y="160934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/ 12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6144768" y="21031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complete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144768" y="23774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355080" y="23774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conversion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6144768" y="25740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355080" y="257403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pipeline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144768" y="27706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355080" y="27706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counter + form rules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6144768" y="29672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355080" y="29672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models + evaluation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6144768" y="31638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355080" y="316382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app + 68 tests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6144768" y="33604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355080" y="33604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classifier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6144768" y="35570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355080" y="355701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recorded dataset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6144768" y="37536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6355080" y="37536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57200" y="416052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E8F5F2"/>
          </a:solidFill>
          <a:ln w="12700">
            <a:solidFill>
              <a:srgbClr val="E1EAEB"/>
            </a:solidFill>
            <a:prstDash val="solid"/>
          </a:ln>
          <a:effectLst>
            <a:outerShdw sx="100000" sy="100000" kx="0" ky="0" algn="bl" rotWithShape="0" blurRad="101600" dist="12700" dir="5400000">
              <a:srgbClr val="0A2A30">
                <a:alpha val="16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658368" y="43159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used: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MM-Fit (public) — 21 workouts · 310 exercise sets · 197,862 frames · 12,120 windows.  Split by subject: 10 train / 3 validation / 5 unseen test.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Evidence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execution log and the running application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691640"/>
          </a:xfrm>
          <a:prstGeom prst="roundRect">
            <a:avLst>
              <a:gd name="adj" fmla="val 4324"/>
            </a:avLst>
          </a:prstGeom>
          <a:solidFill>
            <a:srgbClr val="0E3C46"/>
          </a:solidFill>
          <a:ln w="12700">
            <a:solidFill>
              <a:srgbClr val="E1EAEB"/>
            </a:solidFill>
            <a:prstDash val="solid"/>
          </a:ln>
          <a:effectLst>
            <a:outerShdw sx="100000" sy="100000" kx="0" ky="0" algn="bl" rotWithShape="0" blurRad="101600" dist="12700" dir="5400000">
              <a:srgbClr val="0A2A30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21792" y="129844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ml/scripts/train.py — model definition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536192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9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Bidirectional(LSTM(64, return_sequences=True))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9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Dropout(0.5)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9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Bidirectional(LSTM(32))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9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Dropout(0.5)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9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Dense(32, activation="relu")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9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Dense(5, activation="softmax")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937760" y="1188720"/>
            <a:ext cx="3749040" cy="1691640"/>
          </a:xfrm>
          <a:prstGeom prst="roundRect">
            <a:avLst>
              <a:gd name="adj" fmla="val 4324"/>
            </a:avLst>
          </a:prstGeom>
          <a:solidFill>
            <a:srgbClr val="0E3C46"/>
          </a:solidFill>
          <a:ln w="12700">
            <a:solidFill>
              <a:srgbClr val="E1EAEB"/>
            </a:solidFill>
            <a:prstDash val="solid"/>
          </a:ln>
          <a:effectLst>
            <a:outerShdw sx="100000" sy="100000" kx="0" ky="0" algn="bl" rotWithShape="0" blurRad="101600" dist="12700" dir="5400000">
              <a:srgbClr val="0A2A30">
                <a:alpha val="1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102352" y="12984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execution_log.txt — final stage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102352" y="1536192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D9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[6/6] Model comparison (test participants)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D9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  test macro F1 0.9915  0.16 ms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D9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bilstm    test macro F1 0.9883  4.03 ms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D9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gru       test macro F1 0.9993  7.94 ms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D9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bilstm+aug test macro F1 1.0000 10.5 ms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D9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 in 366s.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265176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E1EAEB"/>
            </a:solidFill>
            <a:prstDash val="solid"/>
          </a:ln>
          <a:effectLst>
            <a:outerShdw sx="100000" sy="100000" kx="0" ky="0" algn="bl" rotWithShape="0" blurRad="101600" dist="12700" dir="5400000">
              <a:srgbClr val="0A2A3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3145536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145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87552" y="31455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456432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session: reps counted, form feedback, and the plan adapting with a written reason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3017520"/>
            <a:ext cx="265176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E1EAEB"/>
            </a:solidFill>
            <a:prstDash val="solid"/>
          </a:ln>
          <a:effectLst>
            <a:outerShdw sx="100000" sy="100000" kx="0" ky="0" algn="bl" rotWithShape="0" blurRad="101600" dist="12700" dir="5400000">
              <a:srgbClr val="0A2A3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74720" y="3145536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74720" y="3145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822192" y="31455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474720" y="3456432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backend tests passing — rep counter, coach rules, API validation, WebSocket session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3017520"/>
            <a:ext cx="265176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E1EAEB"/>
            </a:solidFill>
            <a:prstDash val="solid"/>
          </a:ln>
          <a:effectLst>
            <a:outerShdw sx="100000" sy="100000" kx="0" ky="0" algn="bl" rotWithShape="0" blurRad="101600" dist="12700" dir="5400000">
              <a:srgbClr val="0A2A3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3145536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09360" y="3145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⎘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656832" y="31455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3456432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log, RESULTS.md, four confusion matrices, evaluation report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315968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E3C46"/>
          </a:solidFill>
          <a:ln w="12700">
            <a:solidFill>
              <a:srgbClr val="E1EAEB"/>
            </a:solidFill>
            <a:prstDash val="solid"/>
          </a:ln>
          <a:effectLst>
            <a:outerShdw sx="100000" sy="100000" kx="0" ky="0" algn="bl" rotWithShape="0" blurRad="101600" dist="12700" dir="5400000">
              <a:srgbClr val="0A2A30">
                <a:alpha val="16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58368" y="4434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D9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reproduce:  ml\.venv\Scripts\python.exe ml/scripts/run_pipeline_demo.py --landmarks ml/data/landmarks/mmfit.csv --test-participants w00 w05 w12 w13 w20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Preliminary Results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= 5 workouts whose subjects never appear in training (2,472 windows)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8463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1EAEB"/>
            </a:solidFill>
            <a:prstDash val="solid"/>
          </a:ln>
          <a:effectLst>
            <a:outerShdw sx="100000" sy="100000" kx="0" ky="0" algn="bl" rotWithShape="0" blurRad="101600" dist="12700" dir="5400000">
              <a:srgbClr val="0A2A30">
                <a:alpha val="16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566928" y="1298448"/>
          <a:ext cx="4617720" cy="20665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486400" y="1188720"/>
            <a:ext cx="32004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1EAEB"/>
            </a:solidFill>
            <a:prstDash val="solid"/>
          </a:ln>
          <a:effectLst>
            <a:outerShdw sx="100000" sy="100000" kx="0" ky="0" algn="bl" rotWithShape="0" blurRad="101600" dist="12700" dir="5400000">
              <a:srgbClr val="0A2A30">
                <a:alpha val="16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5687568" y="131673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 counter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687568" y="153619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ground-truth counts, 310 sets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5687568" y="182880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Biceps curl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315200" y="18288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0.00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687568" y="21031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Lunge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315200" y="21031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0.36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687568" y="23774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Shoulder press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0" y="23774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1.60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687568" y="26517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Push-up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0" y="26517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77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3.09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687568" y="292608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Squat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0" y="29260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77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3.73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687568" y="320040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MAE 1.80  ·  71.9% within ±1 rep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361188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E8F5F2"/>
          </a:solidFill>
          <a:ln w="12700">
            <a:solidFill>
              <a:srgbClr val="E1EAEB"/>
            </a:solidFill>
            <a:prstDash val="solid"/>
          </a:ln>
          <a:effectLst>
            <a:outerShdw sx="100000" sy="100000" kx="0" ky="0" algn="bl" rotWithShape="0" blurRad="101600" dist="12700" dir="5400000">
              <a:srgbClr val="0A2A30">
                <a:alpha val="16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658368" y="371246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worth stating first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658368" y="393192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on summary statistics reaches 0.9915 — so on this dataset the deep models are not proven necessary. MM-Fit's five exercises separate by posture alone, in studio footage from one fixed camera. Form-error classification, where the difference is temporal, is where a recurrent model should earn its place.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Deviations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wrong, how it was found, and what changed as a result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AEB"/>
            </a:solidFill>
            <a:prstDash val="solid"/>
          </a:ln>
          <a:effectLst>
            <a:outerShdw sx="100000" sy="100000" kx="0" ky="0" algn="bl" rotWithShape="0" blurRad="101600" dist="12700" dir="5400000">
              <a:srgbClr val="0A2A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353312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353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13441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subject leak in the dataset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719072"/>
            <a:ext cx="3611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MM-Fit's 21 workouts come from ~10 people, so splitting by workout ID is not subject-independent. Caught when scores looked implausible; first results discarded and re-run on the authors' unseen-subject split.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18872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AEB"/>
            </a:solidFill>
            <a:prstDash val="solid"/>
          </a:ln>
          <a:effectLst>
            <a:outerShdw sx="100000" sy="100000" kx="0" ky="0" algn="bl" rotWithShape="0" blurRad="101600" dist="12700" dir="5400000">
              <a:srgbClr val="0A2A3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10328" y="1353312"/>
            <a:ext cx="292608" cy="292608"/>
          </a:xfrm>
          <a:prstGeom prst="ellipse">
            <a:avLst/>
          </a:prstGeom>
          <a:solidFill>
            <a:srgbClr val="C77D28"/>
          </a:solidFill>
          <a:ln w="12700">
            <a:solidFill>
              <a:srgbClr val="C77D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10328" y="1353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276088" y="13441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data labels bad form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910328" y="1719072"/>
            <a:ext cx="3611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candidate dataset records correct execution only. Form feedback therefore stays rule-based geometry; the classifier waits on data we record ourselves.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670048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AEB"/>
            </a:solidFill>
            <a:prstDash val="solid"/>
          </a:ln>
          <a:effectLst>
            <a:outerShdw sx="100000" sy="100000" kx="0" ky="0" algn="bl" rotWithShape="0" blurRad="101600" dist="12700" dir="5400000">
              <a:srgbClr val="0A2A3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" y="2834640"/>
            <a:ext cx="292608" cy="292608"/>
          </a:xfrm>
          <a:prstGeom prst="ellipse">
            <a:avLst/>
          </a:prstGeom>
          <a:solidFill>
            <a:srgbClr val="C77D28"/>
          </a:solidFill>
          <a:ln w="12700">
            <a:solidFill>
              <a:srgbClr val="C77D2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24128" y="28254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counting fails head-on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3200400"/>
            <a:ext cx="3611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of 64 squat sets counted zero: a frontal camera foreshortens the knee angle below the depth threshold. The app now guides users side-on.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670048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AEB"/>
            </a:solidFill>
            <a:prstDash val="solid"/>
          </a:ln>
          <a:effectLst>
            <a:outerShdw sx="100000" sy="100000" kx="0" ky="0" algn="bl" rotWithShape="0" blurRad="101600" dist="12700" dir="5400000">
              <a:srgbClr val="0A2A3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10328" y="2834640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10328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276088" y="28254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inference too slow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910328" y="3200400"/>
            <a:ext cx="3611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Eager-mode inference cost ~500 ms per window. Compiling a fixed-signature graph cut it to ~7 ms, and analysis moved off the event loop.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1605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6E8"/>
          </a:solidFill>
          <a:ln w="12700">
            <a:solidFill>
              <a:srgbClr val="E1EAEB"/>
            </a:solidFill>
            <a:prstDash val="solid"/>
          </a:ln>
          <a:effectLst>
            <a:outerShdw sx="100000" sy="100000" kx="0" ky="0" algn="bl" rotWithShape="0" blurRad="101600" dist="12700" dir="5400000">
              <a:srgbClr val="0A2A30">
                <a:alpha val="16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58368" y="427939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C77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 carried forward: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learned from studio poses produced by a different tracker than the browser uses, so live accuracy will be lower than the table suggests.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3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Updated Timeline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work mapped to the Final / Third Review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938528" cy="2286000"/>
          </a:xfrm>
          <a:prstGeom prst="roundRect">
            <a:avLst>
              <a:gd name="adj" fmla="val 4717"/>
            </a:avLst>
          </a:prstGeom>
          <a:solidFill>
            <a:srgbClr val="0A4450"/>
          </a:solidFill>
          <a:ln w="12700">
            <a:solidFill>
              <a:srgbClr val="1660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481328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481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14996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82880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our own dataset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340864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BF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 volunteers, 5 exercises, correct and deliberate errors, front and side views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78608" y="1325880"/>
            <a:ext cx="1938528" cy="2286000"/>
          </a:xfrm>
          <a:prstGeom prst="roundRect">
            <a:avLst>
              <a:gd name="adj" fmla="val 4717"/>
            </a:avLst>
          </a:prstGeom>
          <a:solidFill>
            <a:srgbClr val="0A4450"/>
          </a:solidFill>
          <a:ln w="12700">
            <a:solidFill>
              <a:srgbClr val="16606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1481328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43200" y="1481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14996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182880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form classifier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2340864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BF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Per-exercise BiLSTM on error labels, compared against the geometric rules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0016" y="1325880"/>
            <a:ext cx="1938528" cy="2286000"/>
          </a:xfrm>
          <a:prstGeom prst="roundRect">
            <a:avLst>
              <a:gd name="adj" fmla="val 4717"/>
            </a:avLst>
          </a:prstGeom>
          <a:solidFill>
            <a:srgbClr val="0A4450"/>
          </a:solidFill>
          <a:ln w="12700">
            <a:solidFill>
              <a:srgbClr val="16606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64608" y="1481328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64608" y="1481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230368" y="14996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864608" y="182880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webcam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864608" y="2340864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BF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latency, dropped frames and rep-count accuracy with real users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21424" y="1325880"/>
            <a:ext cx="1938528" cy="2286000"/>
          </a:xfrm>
          <a:prstGeom prst="roundRect">
            <a:avLst>
              <a:gd name="adj" fmla="val 4717"/>
            </a:avLst>
          </a:prstGeom>
          <a:solidFill>
            <a:srgbClr val="0A4450"/>
          </a:solidFill>
          <a:ln w="12700">
            <a:solidFill>
              <a:srgbClr val="16606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86016" y="1481328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86016" y="1481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351776" y="14996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986016" y="182880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+ deployment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986016" y="2340864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BF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user study, deploy the stack, final report and documentation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38221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at the final review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059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classifier on our own error data  ·  webcam-measured live performance  ·  deployed application  ·  completed evaluation report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FitAI — Second Review</dc:title>
  <dc:subject>PptxGenJS Presentation</dc:subject>
  <dc:creator>FitAI project</dc:creator>
  <cp:lastModifiedBy>FitAI project</cp:lastModifiedBy>
  <cp:revision>1</cp:revision>
  <dcterms:created xsi:type="dcterms:W3CDTF">2026-09-20T17:34:34Z</dcterms:created>
  <dcterms:modified xsi:type="dcterms:W3CDTF">2026-09-20T17:34:34Z</dcterms:modified>
</cp:coreProperties>
</file>